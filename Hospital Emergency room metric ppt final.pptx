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sldIdLst>
    <p:sldId id="278" r:id="rId5"/>
    <p:sldId id="279" r:id="rId6"/>
    <p:sldId id="280" r:id="rId7"/>
    <p:sldId id="281" r:id="rId8"/>
    <p:sldId id="282" r:id="rId9"/>
    <p:sldId id="283" r:id="rId10"/>
    <p:sldId id="284" r:id="rId11"/>
    <p:sldId id="285" r:id="rId12"/>
    <p:sldId id="286" r:id="rId13"/>
    <p:sldId id="287" r:id="rId14"/>
    <p:sldId id="288" r:id="rId15"/>
    <p:sldId id="28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F39C98-3E9A-4B0F-9DFA-0C6B0C0F9A29}" v="22" dt="2026-06-17T06:52:19.1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79" d="100"/>
          <a:sy n="79" d="100"/>
        </p:scale>
        <p:origin x="773" y="7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6/22/2026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6/22/2026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6/22/2026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6/22/2026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6/22/2026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6/22/2026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6/22/2026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6/22/2026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6/22/2026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6/22/2026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6/22/2026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6/22/2026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1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fontScale="90000"/>
          </a:bodyPr>
          <a:lstStyle/>
          <a:p>
            <a:pPr algn="l"/>
            <a:r>
              <a:rPr lang="en-US" sz="4000" dirty="0"/>
              <a:t>Hospital Emergency room metric and operational analysis</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485072" cy="1026544"/>
          </a:xfrm>
        </p:spPr>
        <p:txBody>
          <a:bodyPr>
            <a:normAutofit/>
          </a:bodyPr>
          <a:lstStyle/>
          <a:p>
            <a:pPr algn="l"/>
            <a:endParaRPr lang="en-US" dirty="0"/>
          </a:p>
          <a:p>
            <a:pPr algn="l"/>
            <a:r>
              <a:rPr lang="en-US" sz="2300" dirty="0"/>
              <a:t>By Sahil Chandane</a:t>
            </a: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900493" y="609600"/>
            <a:ext cx="4538124" cy="970450"/>
          </a:xfrm>
        </p:spPr>
        <p:txBody>
          <a:bodyPr anchor="b">
            <a:normAutofit/>
          </a:bodyPr>
          <a:lstStyle/>
          <a:p>
            <a:pPr algn="l"/>
            <a:r>
              <a:rPr lang="en-US" sz="4000" dirty="0"/>
              <a:t>Objective	</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900493" y="1732449"/>
            <a:ext cx="4403596" cy="4058751"/>
          </a:xfrm>
        </p:spPr>
        <p:txBody>
          <a:bodyPr anchor="t">
            <a:normAutofit fontScale="77500" lnSpcReduction="20000"/>
          </a:bodyPr>
          <a:lstStyle/>
          <a:p>
            <a:pPr marL="36900" lvl="0" indent="0">
              <a:buNone/>
            </a:pPr>
            <a:r>
              <a:rPr lang="en-US" sz="2400" dirty="0"/>
              <a:t>The purpose of this project is to analyze hospital patient metrics and identify trends related to patient volume, waiting time, referrals, satisfaction scores, and departmental performance.</a:t>
            </a:r>
          </a:p>
          <a:p>
            <a:pPr marL="36900" indent="0">
              <a:buNone/>
            </a:pPr>
            <a:r>
              <a:rPr lang="en-US" sz="2800" b="1" dirty="0">
                <a:latin typeface="Symusic" panose="00000400000000000000" pitchFamily="2" charset="0"/>
                <a:cs typeface="Symusic" panose="00000400000000000000" pitchFamily="2" charset="0"/>
              </a:rPr>
              <a:t> </a:t>
            </a:r>
            <a:r>
              <a:rPr lang="en-US" sz="2800" b="1" dirty="0">
                <a:latin typeface="Times New Roman" panose="02020603050405020304" pitchFamily="18" charset="0"/>
                <a:cs typeface="Times New Roman" panose="02020603050405020304" pitchFamily="18" charset="0"/>
              </a:rPr>
              <a:t>Hospitals need to:</a:t>
            </a:r>
          </a:p>
          <a:p>
            <a:r>
              <a:rPr lang="en-US" sz="2400" dirty="0"/>
              <a:t>Reduce patient waiting time </a:t>
            </a:r>
          </a:p>
          <a:p>
            <a:r>
              <a:rPr lang="en-US" sz="2400" dirty="0"/>
              <a:t>Improve patient satisfaction </a:t>
            </a:r>
          </a:p>
          <a:p>
            <a:r>
              <a:rPr lang="en-US" sz="2400" dirty="0"/>
              <a:t>Optimize resource utilization </a:t>
            </a:r>
          </a:p>
          <a:p>
            <a:r>
              <a:rPr lang="en-US" sz="2400" dirty="0"/>
              <a:t>Monitor referral patterns </a:t>
            </a:r>
          </a:p>
          <a:p>
            <a:r>
              <a:rPr lang="en-US" sz="2400" dirty="0"/>
              <a:t>Improve patient care quality</a:t>
            </a:r>
          </a:p>
          <a:p>
            <a:pPr marL="36900" lvl="0" indent="0">
              <a:buNone/>
            </a:pPr>
            <a:endParaRPr lang="en-US" sz="2400" dirty="0"/>
          </a:p>
          <a:p>
            <a:endParaRPr lang="en-US" sz="2400" dirty="0"/>
          </a:p>
        </p:txBody>
      </p:sp>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83A0B-E2E7-A24C-6C81-CC15742B137F}"/>
              </a:ext>
            </a:extLst>
          </p:cNvPr>
          <p:cNvSpPr>
            <a:spLocks noGrp="1"/>
          </p:cNvSpPr>
          <p:nvPr>
            <p:ph type="title"/>
          </p:nvPr>
        </p:nvSpPr>
        <p:spPr>
          <a:xfrm>
            <a:off x="1295401" y="226907"/>
            <a:ext cx="9590550" cy="585893"/>
          </a:xfrm>
        </p:spPr>
        <p:txBody>
          <a:bodyPr>
            <a:normAutofit fontScale="90000"/>
          </a:bodyPr>
          <a:lstStyle/>
          <a:p>
            <a:r>
              <a:rPr lang="en-US" dirty="0"/>
              <a:t>Dataset Overview</a:t>
            </a:r>
          </a:p>
        </p:txBody>
      </p:sp>
      <p:sp>
        <p:nvSpPr>
          <p:cNvPr id="3" name="Text Placeholder 2">
            <a:extLst>
              <a:ext uri="{FF2B5EF4-FFF2-40B4-BE49-F238E27FC236}">
                <a16:creationId xmlns:a16="http://schemas.microsoft.com/office/drawing/2014/main" id="{065C0CBC-0AF5-8DBA-C5A7-7D76346BE891}"/>
              </a:ext>
            </a:extLst>
          </p:cNvPr>
          <p:cNvSpPr>
            <a:spLocks noGrp="1"/>
          </p:cNvSpPr>
          <p:nvPr>
            <p:ph type="body" idx="1"/>
          </p:nvPr>
        </p:nvSpPr>
        <p:spPr>
          <a:xfrm>
            <a:off x="1295401" y="894080"/>
            <a:ext cx="9590550" cy="4419600"/>
          </a:xfrm>
        </p:spPr>
        <p:txBody>
          <a:bodyPr/>
          <a:lstStyle/>
          <a:p>
            <a:pPr algn="l"/>
            <a:endParaRPr lang="en-US" dirty="0"/>
          </a:p>
        </p:txBody>
      </p:sp>
      <p:graphicFrame>
        <p:nvGraphicFramePr>
          <p:cNvPr id="4" name="Table 3">
            <a:extLst>
              <a:ext uri="{FF2B5EF4-FFF2-40B4-BE49-F238E27FC236}">
                <a16:creationId xmlns:a16="http://schemas.microsoft.com/office/drawing/2014/main" id="{E2306218-8EA4-D7CC-6D20-F7AB69B53D73}"/>
              </a:ext>
            </a:extLst>
          </p:cNvPr>
          <p:cNvGraphicFramePr>
            <a:graphicFrameLocks noGrp="1"/>
          </p:cNvGraphicFramePr>
          <p:nvPr>
            <p:extLst>
              <p:ext uri="{D42A27DB-BD31-4B8C-83A1-F6EECF244321}">
                <p14:modId xmlns:p14="http://schemas.microsoft.com/office/powerpoint/2010/main" val="2347919674"/>
              </p:ext>
            </p:extLst>
          </p:nvPr>
        </p:nvGraphicFramePr>
        <p:xfrm>
          <a:off x="1306049" y="894080"/>
          <a:ext cx="9590550" cy="5405120"/>
        </p:xfrm>
        <a:graphic>
          <a:graphicData uri="http://schemas.openxmlformats.org/drawingml/2006/table">
            <a:tbl>
              <a:tblPr firstRow="1" bandRow="1">
                <a:tableStyleId>{073A0DAA-6AF3-43AB-8588-CEC1D06C72B9}</a:tableStyleId>
              </a:tblPr>
              <a:tblGrid>
                <a:gridCol w="4795275">
                  <a:extLst>
                    <a:ext uri="{9D8B030D-6E8A-4147-A177-3AD203B41FA5}">
                      <a16:colId xmlns:a16="http://schemas.microsoft.com/office/drawing/2014/main" val="1033660795"/>
                    </a:ext>
                  </a:extLst>
                </a:gridCol>
                <a:gridCol w="4795275">
                  <a:extLst>
                    <a:ext uri="{9D8B030D-6E8A-4147-A177-3AD203B41FA5}">
                      <a16:colId xmlns:a16="http://schemas.microsoft.com/office/drawing/2014/main" val="1915198011"/>
                    </a:ext>
                  </a:extLst>
                </a:gridCol>
              </a:tblGrid>
              <a:tr h="675640">
                <a:tc>
                  <a:txBody>
                    <a:bodyPr/>
                    <a:lstStyle/>
                    <a:p>
                      <a:r>
                        <a:rPr lang="en-US" dirty="0"/>
                        <a:t>Parameter</a:t>
                      </a:r>
                    </a:p>
                  </a:txBody>
                  <a:tcPr/>
                </a:tc>
                <a:tc>
                  <a:txBody>
                    <a:bodyPr/>
                    <a:lstStyle/>
                    <a:p>
                      <a:r>
                        <a:rPr lang="en-US" dirty="0"/>
                        <a:t>value</a:t>
                      </a:r>
                    </a:p>
                  </a:txBody>
                  <a:tcPr/>
                </a:tc>
                <a:extLst>
                  <a:ext uri="{0D108BD9-81ED-4DB2-BD59-A6C34878D82A}">
                    <a16:rowId xmlns:a16="http://schemas.microsoft.com/office/drawing/2014/main" val="2608993059"/>
                  </a:ext>
                </a:extLst>
              </a:tr>
              <a:tr h="675640">
                <a:tc>
                  <a:txBody>
                    <a:bodyPr/>
                    <a:lstStyle/>
                    <a:p>
                      <a:r>
                        <a:rPr lang="en-US" dirty="0"/>
                        <a:t>Data type</a:t>
                      </a:r>
                    </a:p>
                  </a:txBody>
                  <a:tcPr/>
                </a:tc>
                <a:tc>
                  <a:txBody>
                    <a:bodyPr/>
                    <a:lstStyle/>
                    <a:p>
                      <a:r>
                        <a:rPr lang="en-US" dirty="0"/>
                        <a:t>Healthcare / Emergency Room Operation</a:t>
                      </a:r>
                    </a:p>
                  </a:txBody>
                  <a:tcPr/>
                </a:tc>
                <a:extLst>
                  <a:ext uri="{0D108BD9-81ED-4DB2-BD59-A6C34878D82A}">
                    <a16:rowId xmlns:a16="http://schemas.microsoft.com/office/drawing/2014/main" val="3225087531"/>
                  </a:ext>
                </a:extLst>
              </a:tr>
              <a:tr h="675640">
                <a:tc>
                  <a:txBody>
                    <a:bodyPr/>
                    <a:lstStyle/>
                    <a:p>
                      <a:r>
                        <a:rPr lang="en-US" dirty="0"/>
                        <a:t>Total record</a:t>
                      </a:r>
                    </a:p>
                    <a:p>
                      <a:endParaRPr lang="en-US" dirty="0"/>
                    </a:p>
                  </a:txBody>
                  <a:tcPr/>
                </a:tc>
                <a:tc>
                  <a:txBody>
                    <a:bodyPr/>
                    <a:lstStyle/>
                    <a:p>
                      <a:r>
                        <a:rPr lang="en-US" dirty="0"/>
                        <a:t>9216 patient record</a:t>
                      </a:r>
                    </a:p>
                  </a:txBody>
                  <a:tcPr/>
                </a:tc>
                <a:extLst>
                  <a:ext uri="{0D108BD9-81ED-4DB2-BD59-A6C34878D82A}">
                    <a16:rowId xmlns:a16="http://schemas.microsoft.com/office/drawing/2014/main" val="3110718387"/>
                  </a:ext>
                </a:extLst>
              </a:tr>
              <a:tr h="675640">
                <a:tc>
                  <a:txBody>
                    <a:bodyPr/>
                    <a:lstStyle/>
                    <a:p>
                      <a:r>
                        <a:rPr lang="en-US" dirty="0"/>
                        <a:t>Time period</a:t>
                      </a:r>
                    </a:p>
                  </a:txBody>
                  <a:tcPr/>
                </a:tc>
                <a:tc>
                  <a:txBody>
                    <a:bodyPr/>
                    <a:lstStyle/>
                    <a:p>
                      <a:r>
                        <a:rPr lang="en-US" dirty="0"/>
                        <a:t>April 2023 to October 2024</a:t>
                      </a:r>
                    </a:p>
                  </a:txBody>
                  <a:tcPr/>
                </a:tc>
                <a:extLst>
                  <a:ext uri="{0D108BD9-81ED-4DB2-BD59-A6C34878D82A}">
                    <a16:rowId xmlns:a16="http://schemas.microsoft.com/office/drawing/2014/main" val="771386818"/>
                  </a:ext>
                </a:extLst>
              </a:tr>
              <a:tr h="675640">
                <a:tc>
                  <a:txBody>
                    <a:bodyPr/>
                    <a:lstStyle/>
                    <a:p>
                      <a:r>
                        <a:rPr lang="en-US" dirty="0"/>
                        <a:t>Patient age range</a:t>
                      </a:r>
                    </a:p>
                  </a:txBody>
                  <a:tcPr/>
                </a:tc>
                <a:tc>
                  <a:txBody>
                    <a:bodyPr/>
                    <a:lstStyle/>
                    <a:p>
                      <a:r>
                        <a:rPr lang="en-US" dirty="0"/>
                        <a:t>1-79</a:t>
                      </a:r>
                    </a:p>
                  </a:txBody>
                  <a:tcPr/>
                </a:tc>
                <a:extLst>
                  <a:ext uri="{0D108BD9-81ED-4DB2-BD59-A6C34878D82A}">
                    <a16:rowId xmlns:a16="http://schemas.microsoft.com/office/drawing/2014/main" val="3491046123"/>
                  </a:ext>
                </a:extLst>
              </a:tr>
              <a:tr h="675640">
                <a:tc>
                  <a:txBody>
                    <a:bodyPr/>
                    <a:lstStyle/>
                    <a:p>
                      <a:r>
                        <a:rPr lang="en-US" dirty="0"/>
                        <a:t>Department </a:t>
                      </a:r>
                    </a:p>
                  </a:txBody>
                  <a:tcPr/>
                </a:tc>
                <a:tc>
                  <a:txBody>
                    <a:bodyPr/>
                    <a:lstStyle/>
                    <a:p>
                      <a:r>
                        <a:rPr lang="en-US" dirty="0"/>
                        <a:t>7 department</a:t>
                      </a:r>
                    </a:p>
                  </a:txBody>
                  <a:tcPr/>
                </a:tc>
                <a:extLst>
                  <a:ext uri="{0D108BD9-81ED-4DB2-BD59-A6C34878D82A}">
                    <a16:rowId xmlns:a16="http://schemas.microsoft.com/office/drawing/2014/main" val="2102973198"/>
                  </a:ext>
                </a:extLst>
              </a:tr>
              <a:tr h="675640">
                <a:tc>
                  <a:txBody>
                    <a:bodyPr/>
                    <a:lstStyle/>
                    <a:p>
                      <a:r>
                        <a:rPr lang="en-US" dirty="0"/>
                        <a:t>Patient types</a:t>
                      </a:r>
                    </a:p>
                  </a:txBody>
                  <a:tcPr/>
                </a:tc>
                <a:tc>
                  <a:txBody>
                    <a:bodyPr/>
                    <a:lstStyle/>
                    <a:p>
                      <a:r>
                        <a:rPr lang="en-US" dirty="0" err="1"/>
                        <a:t>Male,female,nc</a:t>
                      </a:r>
                      <a:endParaRPr lang="en-US" dirty="0"/>
                    </a:p>
                  </a:txBody>
                  <a:tcPr/>
                </a:tc>
                <a:extLst>
                  <a:ext uri="{0D108BD9-81ED-4DB2-BD59-A6C34878D82A}">
                    <a16:rowId xmlns:a16="http://schemas.microsoft.com/office/drawing/2014/main" val="2765716463"/>
                  </a:ext>
                </a:extLst>
              </a:tr>
              <a:tr h="675640">
                <a:tc>
                  <a:txBody>
                    <a:bodyPr/>
                    <a:lstStyle/>
                    <a:p>
                      <a:r>
                        <a:rPr lang="en-US" dirty="0" err="1"/>
                        <a:t>Datasource</a:t>
                      </a:r>
                      <a:endParaRPr lang="en-US" dirty="0"/>
                    </a:p>
                  </a:txBody>
                  <a:tcPr/>
                </a:tc>
                <a:tc>
                  <a:txBody>
                    <a:bodyPr/>
                    <a:lstStyle/>
                    <a:p>
                      <a:r>
                        <a:rPr lang="en-US" dirty="0"/>
                        <a:t>Hospital Emergency Room (ER) Patient Dataset</a:t>
                      </a:r>
                    </a:p>
                  </a:txBody>
                  <a:tcPr/>
                </a:tc>
                <a:extLst>
                  <a:ext uri="{0D108BD9-81ED-4DB2-BD59-A6C34878D82A}">
                    <a16:rowId xmlns:a16="http://schemas.microsoft.com/office/drawing/2014/main" val="1871853948"/>
                  </a:ext>
                </a:extLst>
              </a:tr>
            </a:tbl>
          </a:graphicData>
        </a:graphic>
      </p:graphicFrame>
    </p:spTree>
    <p:extLst>
      <p:ext uri="{BB962C8B-B14F-4D97-AF65-F5344CB8AC3E}">
        <p14:creationId xmlns:p14="http://schemas.microsoft.com/office/powerpoint/2010/main" val="3902501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7C4A0-C170-7B89-5A95-81F5287A6FF0}"/>
              </a:ext>
            </a:extLst>
          </p:cNvPr>
          <p:cNvSpPr>
            <a:spLocks noGrp="1"/>
          </p:cNvSpPr>
          <p:nvPr>
            <p:ph type="title"/>
          </p:nvPr>
        </p:nvSpPr>
        <p:spPr>
          <a:xfrm>
            <a:off x="1028701" y="0"/>
            <a:ext cx="9590550" cy="1333494"/>
          </a:xfrm>
        </p:spPr>
        <p:txBody>
          <a:bodyPr/>
          <a:lstStyle/>
          <a:p>
            <a:r>
              <a:rPr lang="en-US" dirty="0">
                <a:latin typeface="Times New Roman" panose="02020603050405020304" pitchFamily="18" charset="0"/>
                <a:cs typeface="Times New Roman" panose="02020603050405020304" pitchFamily="18" charset="0"/>
              </a:rPr>
              <a:t>KPI Overview</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14F4D87-5F1A-CDF8-C3B9-594145A521D2}"/>
              </a:ext>
            </a:extLst>
          </p:cNvPr>
          <p:cNvSpPr>
            <a:spLocks noGrp="1"/>
          </p:cNvSpPr>
          <p:nvPr>
            <p:ph type="body" idx="1"/>
          </p:nvPr>
        </p:nvSpPr>
        <p:spPr>
          <a:xfrm>
            <a:off x="1295401" y="1229360"/>
            <a:ext cx="9590550" cy="4826000"/>
          </a:xfrm>
        </p:spPr>
        <p:txBody>
          <a:bodyPr/>
          <a:lstStyle/>
          <a:p>
            <a:pPr marL="342900" indent="-342900" algn="l">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No. of Patients</a:t>
            </a:r>
          </a:p>
          <a:p>
            <a:pPr marL="342900" indent="-342900" algn="l">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Avg waiting time</a:t>
            </a:r>
          </a:p>
          <a:p>
            <a:pPr marL="342900" indent="-342900" algn="l">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Patient satisfaction score</a:t>
            </a:r>
          </a:p>
          <a:p>
            <a:pPr marL="342900" indent="-342900" algn="l">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No of patient </a:t>
            </a:r>
            <a:r>
              <a:rPr lang="en-US" b="1" dirty="0" err="1">
                <a:effectLst/>
                <a:latin typeface="Times New Roman" panose="02020603050405020304" pitchFamily="18" charset="0"/>
                <a:cs typeface="Times New Roman" panose="02020603050405020304" pitchFamily="18" charset="0"/>
              </a:rPr>
              <a:t>reffered</a:t>
            </a:r>
            <a:endParaRPr lang="en-US" b="1" dirty="0">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Patient admission status</a:t>
            </a:r>
          </a:p>
          <a:p>
            <a:pPr marL="342900" indent="-342900" algn="l">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No of patient by department referral</a:t>
            </a:r>
          </a:p>
          <a:p>
            <a:pPr marL="342900" indent="-342900" algn="l">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No of patient by day name</a:t>
            </a:r>
          </a:p>
          <a:p>
            <a:pPr marL="342900" indent="-342900" algn="l">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No of patient by age group</a:t>
            </a:r>
          </a:p>
          <a:p>
            <a:pPr marL="342900" indent="-342900" algn="l">
              <a:buFont typeface="Arial" panose="020B0604020202020204" pitchFamily="34" charset="0"/>
              <a:buChar char="•"/>
            </a:pPr>
            <a:r>
              <a:rPr lang="en-US" b="1" dirty="0">
                <a:effectLst/>
                <a:latin typeface="Times New Roman" panose="02020603050405020304" pitchFamily="18" charset="0"/>
                <a:cs typeface="Times New Roman" panose="02020603050405020304" pitchFamily="18" charset="0"/>
              </a:rPr>
              <a:t>No of patient seen within 30 min</a:t>
            </a:r>
          </a:p>
          <a:p>
            <a:pPr marL="342900" indent="-342900" algn="l">
              <a:buFont typeface="Arial" panose="020B0604020202020204" pitchFamily="34" charset="0"/>
              <a:buChar char="•"/>
            </a:pPr>
            <a:endParaRPr lang="en-US" b="1" dirty="0">
              <a:effectLst/>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endParaRPr lang="en-US" dirty="0"/>
          </a:p>
        </p:txBody>
      </p:sp>
    </p:spTree>
    <p:extLst>
      <p:ext uri="{BB962C8B-B14F-4D97-AF65-F5344CB8AC3E}">
        <p14:creationId xmlns:p14="http://schemas.microsoft.com/office/powerpoint/2010/main" val="1167686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BBDA2-7FCB-C14C-B413-63EC09288035}"/>
              </a:ext>
            </a:extLst>
          </p:cNvPr>
          <p:cNvSpPr>
            <a:spLocks noGrp="1"/>
          </p:cNvSpPr>
          <p:nvPr>
            <p:ph type="title"/>
          </p:nvPr>
        </p:nvSpPr>
        <p:spPr>
          <a:xfrm>
            <a:off x="1295401" y="447041"/>
            <a:ext cx="9590550" cy="660399"/>
          </a:xfrm>
        </p:spPr>
        <p:txBody>
          <a:bodyPr/>
          <a:lstStyle/>
          <a:p>
            <a:r>
              <a:rPr lang="en-US" dirty="0">
                <a:latin typeface="Times New Roman" panose="02020603050405020304" pitchFamily="18" charset="0"/>
                <a:cs typeface="Times New Roman" panose="02020603050405020304" pitchFamily="18" charset="0"/>
              </a:rPr>
              <a:t>Data preparation </a:t>
            </a:r>
          </a:p>
        </p:txBody>
      </p:sp>
      <p:sp>
        <p:nvSpPr>
          <p:cNvPr id="3" name="Text Placeholder 2">
            <a:extLst>
              <a:ext uri="{FF2B5EF4-FFF2-40B4-BE49-F238E27FC236}">
                <a16:creationId xmlns:a16="http://schemas.microsoft.com/office/drawing/2014/main" id="{372350C7-0F49-C3A0-850A-A609EC3B1B63}"/>
              </a:ext>
            </a:extLst>
          </p:cNvPr>
          <p:cNvSpPr>
            <a:spLocks noGrp="1"/>
          </p:cNvSpPr>
          <p:nvPr>
            <p:ph type="body" idx="1"/>
          </p:nvPr>
        </p:nvSpPr>
        <p:spPr>
          <a:xfrm>
            <a:off x="751840" y="1249680"/>
            <a:ext cx="10134111" cy="5283200"/>
          </a:xfrm>
        </p:spPr>
        <p:txBody>
          <a:bodyPr>
            <a:normAutofit fontScale="92500"/>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Removed duplicate records </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Handled missing values </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Standardized department names </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Corrected data types </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Created calculated measures using DAX </a:t>
            </a:r>
          </a:p>
          <a:p>
            <a:pPr algn="just"/>
            <a:r>
              <a:rPr lang="en-US" sz="2200" b="1" dirty="0">
                <a:latin typeface="Times New Roman" panose="02020603050405020304" pitchFamily="18" charset="0"/>
                <a:cs typeface="Times New Roman" panose="02020603050405020304" pitchFamily="18" charset="0"/>
              </a:rPr>
              <a:t>DAX Measures Created</a:t>
            </a:r>
            <a:endParaRPr lang="en-US" sz="22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Total Patients </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Average Wait Time </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Average Satisfaction Score </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Referral Count </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Admission Rate</a:t>
            </a:r>
          </a:p>
          <a:p>
            <a:pPr algn="l"/>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7295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57587-3734-00CF-B97F-2FE6CCAAB304}"/>
              </a:ext>
            </a:extLst>
          </p:cNvPr>
          <p:cNvSpPr>
            <a:spLocks noGrp="1"/>
          </p:cNvSpPr>
          <p:nvPr>
            <p:ph type="title"/>
          </p:nvPr>
        </p:nvSpPr>
        <p:spPr>
          <a:xfrm>
            <a:off x="1224281" y="427573"/>
            <a:ext cx="9590550" cy="687493"/>
          </a:xfrm>
        </p:spPr>
        <p:txBody>
          <a:bodyPr/>
          <a:lstStyle/>
          <a:p>
            <a:r>
              <a:rPr lang="en-US" dirty="0">
                <a:latin typeface="Times New Roman" panose="02020603050405020304" pitchFamily="18" charset="0"/>
                <a:cs typeface="Times New Roman" panose="02020603050405020304" pitchFamily="18" charset="0"/>
              </a:rPr>
              <a:t>Analysis</a:t>
            </a:r>
          </a:p>
        </p:txBody>
      </p:sp>
      <p:sp>
        <p:nvSpPr>
          <p:cNvPr id="3" name="Text Placeholder 2">
            <a:extLst>
              <a:ext uri="{FF2B5EF4-FFF2-40B4-BE49-F238E27FC236}">
                <a16:creationId xmlns:a16="http://schemas.microsoft.com/office/drawing/2014/main" id="{0B3DA8CF-2A60-4570-D136-3D10A58964D6}"/>
              </a:ext>
            </a:extLst>
          </p:cNvPr>
          <p:cNvSpPr>
            <a:spLocks noGrp="1"/>
          </p:cNvSpPr>
          <p:nvPr>
            <p:ph type="body" idx="1"/>
          </p:nvPr>
        </p:nvSpPr>
        <p:spPr>
          <a:xfrm>
            <a:off x="1295401" y="1115066"/>
            <a:ext cx="9590550" cy="5514334"/>
          </a:xfrm>
        </p:spPr>
        <p:txBody>
          <a:bodyPr>
            <a:normAutofit fontScale="85000" lnSpcReduction="10000"/>
          </a:bodyPr>
          <a:lstStyle/>
          <a:p>
            <a:pPr algn="just"/>
            <a:r>
              <a:rPr lang="en-US" sz="2100" b="1" dirty="0">
                <a:latin typeface="Times New Roman" panose="02020603050405020304" pitchFamily="18" charset="0"/>
                <a:cs typeface="Times New Roman" panose="02020603050405020304" pitchFamily="18" charset="0"/>
              </a:rPr>
              <a:t>1.Patient value analysis:</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Total ER visits analyzed: </a:t>
            </a:r>
            <a:r>
              <a:rPr lang="en-US" b="1" dirty="0">
                <a:latin typeface="Times New Roman" panose="02020603050405020304" pitchFamily="18" charset="0"/>
                <a:cs typeface="Times New Roman" panose="02020603050405020304" pitchFamily="18" charset="0"/>
              </a:rPr>
              <a:t>9,216 patients</a:t>
            </a:r>
            <a:r>
              <a:rPr lang="en-US"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Patient volume remained relatively stable across the analysis period.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Peak patient months recorded approximately </a:t>
            </a:r>
            <a:r>
              <a:rPr lang="en-US" b="1" dirty="0">
                <a:latin typeface="Times New Roman" panose="02020603050405020304" pitchFamily="18" charset="0"/>
                <a:cs typeface="Times New Roman" panose="02020603050405020304" pitchFamily="18" charset="0"/>
              </a:rPr>
              <a:t>320+ visits</a:t>
            </a:r>
            <a:r>
              <a:rPr lang="en-US" dirty="0">
                <a:latin typeface="Times New Roman" panose="02020603050405020304" pitchFamily="18" charset="0"/>
                <a:cs typeface="Times New Roman" panose="02020603050405020304" pitchFamily="18" charset="0"/>
              </a:rPr>
              <a:t>, indicating periods of higher resource demand.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significant decline in patient inflow was observed, suggesting consistent ER utilization. </a:t>
            </a:r>
          </a:p>
          <a:p>
            <a:pPr algn="just"/>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2. Admission Analysis</a:t>
            </a:r>
          </a:p>
          <a:p>
            <a:pPr marL="342900" indent="-34290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4,612 patients (50.04%)</a:t>
            </a:r>
            <a:r>
              <a:rPr lang="en-US" dirty="0">
                <a:latin typeface="Times New Roman" panose="02020603050405020304" pitchFamily="18" charset="0"/>
                <a:cs typeface="Times New Roman" panose="02020603050405020304" pitchFamily="18" charset="0"/>
              </a:rPr>
              <a:t> were admitted. </a:t>
            </a:r>
          </a:p>
          <a:p>
            <a:pPr marL="342900" indent="-34290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4,604 patients (49.96%)</a:t>
            </a:r>
            <a:r>
              <a:rPr lang="en-US" dirty="0">
                <a:latin typeface="Times New Roman" panose="02020603050405020304" pitchFamily="18" charset="0"/>
                <a:cs typeface="Times New Roman" panose="02020603050405020304" pitchFamily="18" charset="0"/>
              </a:rPr>
              <a:t> were discharged without admission.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Admission and non-admission rates are almost equal, indicating balanced ER case severity. </a:t>
            </a:r>
          </a:p>
          <a:p>
            <a:pPr algn="just"/>
            <a:r>
              <a:rPr lang="en-US" b="1" u="sng" dirty="0">
                <a:latin typeface="Times New Roman" panose="02020603050405020304" pitchFamily="18" charset="0"/>
                <a:cs typeface="Times New Roman" panose="02020603050405020304" pitchFamily="18" charset="0"/>
              </a:rPr>
              <a:t>Business Insight</a:t>
            </a:r>
          </a:p>
          <a:p>
            <a:pPr algn="just"/>
            <a:r>
              <a:rPr lang="en-US" dirty="0">
                <a:latin typeface="Times New Roman" panose="02020603050405020304" pitchFamily="18" charset="0"/>
                <a:cs typeface="Times New Roman" panose="02020603050405020304" pitchFamily="18" charset="0"/>
              </a:rPr>
              <a:t>The hospital should maintain adequate bed capacity as approximately half of ER patients require admission.</a:t>
            </a:r>
          </a:p>
          <a:p>
            <a:pPr algn="l"/>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6184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4467B-22A9-6DE1-6B28-E531B482D3EB}"/>
              </a:ext>
            </a:extLst>
          </p:cNvPr>
          <p:cNvSpPr>
            <a:spLocks noGrp="1"/>
          </p:cNvSpPr>
          <p:nvPr>
            <p:ph type="ctrTitle"/>
          </p:nvPr>
        </p:nvSpPr>
        <p:spPr>
          <a:xfrm>
            <a:off x="1275443" y="645590"/>
            <a:ext cx="9440034" cy="45719"/>
          </a:xfrm>
        </p:spPr>
        <p:txBody>
          <a:bodyPr>
            <a:normAutofit fontScale="90000"/>
          </a:bodyPr>
          <a:lstStyle/>
          <a:p>
            <a:r>
              <a:rPr lang="en-US" dirty="0"/>
              <a:t>.</a:t>
            </a:r>
          </a:p>
        </p:txBody>
      </p:sp>
      <p:sp>
        <p:nvSpPr>
          <p:cNvPr id="3" name="Subtitle 2">
            <a:extLst>
              <a:ext uri="{FF2B5EF4-FFF2-40B4-BE49-F238E27FC236}">
                <a16:creationId xmlns:a16="http://schemas.microsoft.com/office/drawing/2014/main" id="{4C4D5D1E-AF8C-F912-40A6-55B337EBE9E7}"/>
              </a:ext>
            </a:extLst>
          </p:cNvPr>
          <p:cNvSpPr>
            <a:spLocks noGrp="1"/>
          </p:cNvSpPr>
          <p:nvPr>
            <p:ph type="subTitle" idx="1"/>
          </p:nvPr>
        </p:nvSpPr>
        <p:spPr>
          <a:xfrm>
            <a:off x="1103993" y="493395"/>
            <a:ext cx="10335532" cy="6168389"/>
          </a:xfrm>
        </p:spPr>
        <p:txBody>
          <a:bodyPr>
            <a:normAutofit fontScale="92500" lnSpcReduction="20000"/>
          </a:bodyPr>
          <a:lstStyle/>
          <a:p>
            <a:pPr algn="just"/>
            <a:r>
              <a:rPr lang="en-US" b="1" dirty="0">
                <a:latin typeface="Times New Roman" panose="02020603050405020304" pitchFamily="18" charset="0"/>
                <a:cs typeface="Times New Roman" panose="02020603050405020304" pitchFamily="18" charset="0"/>
              </a:rPr>
              <a:t>3. Patient Wait Time Analysis</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Average wait time: </a:t>
            </a:r>
            <a:r>
              <a:rPr lang="en-US" b="1" dirty="0">
                <a:latin typeface="Times New Roman" panose="02020603050405020304" pitchFamily="18" charset="0"/>
                <a:cs typeface="Times New Roman" panose="02020603050405020304" pitchFamily="18" charset="0"/>
              </a:rPr>
              <a:t>35.26 minutes</a:t>
            </a:r>
            <a:r>
              <a:rPr lang="en-US"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departments experience higher waiting times than others.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Wait times above 30 minutes can negatively affect patient experience. </a:t>
            </a:r>
          </a:p>
          <a:p>
            <a:pPr algn="just"/>
            <a:r>
              <a:rPr lang="en-US" b="1" u="sng" dirty="0">
                <a:latin typeface="Times New Roman" panose="02020603050405020304" pitchFamily="18" charset="0"/>
                <a:cs typeface="Times New Roman" panose="02020603050405020304" pitchFamily="18" charset="0"/>
              </a:rPr>
              <a:t>Business Insight</a:t>
            </a:r>
          </a:p>
          <a:p>
            <a:pPr algn="just"/>
            <a:r>
              <a:rPr lang="en-US" dirty="0">
                <a:latin typeface="Times New Roman" panose="02020603050405020304" pitchFamily="18" charset="0"/>
                <a:cs typeface="Times New Roman" panose="02020603050405020304" pitchFamily="18" charset="0"/>
              </a:rPr>
              <a:t>Reducing average wait time by even 5–10 minutes could significantly improve service quality.</a:t>
            </a:r>
          </a:p>
          <a:p>
            <a:pPr algn="just"/>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4. Patient Satisfaction Analysis</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Average satisfaction score: </a:t>
            </a:r>
            <a:r>
              <a:rPr lang="en-US" b="1" dirty="0">
                <a:latin typeface="Times New Roman" panose="02020603050405020304" pitchFamily="18" charset="0"/>
                <a:cs typeface="Times New Roman" panose="02020603050405020304" pitchFamily="18" charset="0"/>
              </a:rPr>
              <a:t>4.99/10</a:t>
            </a:r>
            <a:r>
              <a:rPr lang="en-US"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Satisfaction levels indicate opportunities for service improvement.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Long waiting times appear to contribute to lower satisfaction ratings. </a:t>
            </a:r>
          </a:p>
          <a:p>
            <a:pPr algn="just"/>
            <a:r>
              <a:rPr lang="en-US" b="1" u="sng" dirty="0">
                <a:latin typeface="Times New Roman" panose="02020603050405020304" pitchFamily="18" charset="0"/>
                <a:cs typeface="Times New Roman" panose="02020603050405020304" pitchFamily="18" charset="0"/>
              </a:rPr>
              <a:t>Business Insight</a:t>
            </a:r>
          </a:p>
          <a:p>
            <a:pPr algn="just"/>
            <a:r>
              <a:rPr lang="en-US" dirty="0">
                <a:latin typeface="Times New Roman" panose="02020603050405020304" pitchFamily="18" charset="0"/>
                <a:cs typeface="Times New Roman" panose="02020603050405020304" pitchFamily="18" charset="0"/>
              </a:rPr>
              <a:t>Improving patient flow and communication may enhance satisfaction scores.</a:t>
            </a:r>
          </a:p>
          <a:p>
            <a:pPr algn="l"/>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6675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F3BB1-4198-C97F-53A6-6AD0385C58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EF0EC-91F9-3540-6D5E-588E6DCD0EB8}"/>
              </a:ext>
            </a:extLst>
          </p:cNvPr>
          <p:cNvSpPr>
            <a:spLocks noGrp="1"/>
          </p:cNvSpPr>
          <p:nvPr>
            <p:ph type="ctrTitle"/>
          </p:nvPr>
        </p:nvSpPr>
        <p:spPr>
          <a:xfrm>
            <a:off x="1275443" y="645590"/>
            <a:ext cx="9440034" cy="45719"/>
          </a:xfrm>
        </p:spPr>
        <p:txBody>
          <a:bodyPr>
            <a:normAutofit fontScale="90000"/>
          </a:bodyPr>
          <a:lstStyle/>
          <a:p>
            <a:r>
              <a:rPr lang="en-US" dirty="0"/>
              <a:t>.</a:t>
            </a:r>
          </a:p>
        </p:txBody>
      </p:sp>
      <p:sp>
        <p:nvSpPr>
          <p:cNvPr id="3" name="Subtitle 2">
            <a:extLst>
              <a:ext uri="{FF2B5EF4-FFF2-40B4-BE49-F238E27FC236}">
                <a16:creationId xmlns:a16="http://schemas.microsoft.com/office/drawing/2014/main" id="{9F7367DB-6EB2-6FF3-DCEE-BDE093E78A2D}"/>
              </a:ext>
            </a:extLst>
          </p:cNvPr>
          <p:cNvSpPr>
            <a:spLocks noGrp="1"/>
          </p:cNvSpPr>
          <p:nvPr>
            <p:ph type="subTitle" idx="1"/>
          </p:nvPr>
        </p:nvSpPr>
        <p:spPr>
          <a:xfrm>
            <a:off x="1103993" y="493395"/>
            <a:ext cx="10335532" cy="6168389"/>
          </a:xfrm>
        </p:spPr>
        <p:txBody>
          <a:bodyPr>
            <a:normAutofit fontScale="77500" lnSpcReduction="20000"/>
          </a:bodyPr>
          <a:lstStyle/>
          <a:p>
            <a:pPr algn="just"/>
            <a:r>
              <a:rPr lang="en-US" b="1" dirty="0">
                <a:latin typeface="Times New Roman" panose="02020603050405020304" pitchFamily="18" charset="0"/>
                <a:cs typeface="Times New Roman" panose="02020603050405020304" pitchFamily="18" charset="0"/>
              </a:rPr>
              <a:t>5. Gender Distribution Analysis</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Male Patients: </a:t>
            </a:r>
            <a:r>
              <a:rPr lang="en-US" b="1" dirty="0">
                <a:latin typeface="Times New Roman" panose="02020603050405020304" pitchFamily="18" charset="0"/>
                <a:cs typeface="Times New Roman" panose="02020603050405020304" pitchFamily="18" charset="0"/>
              </a:rPr>
              <a:t>4,705 (51%)</a:t>
            </a:r>
            <a:r>
              <a:rPr lang="en-US"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Female Patients: </a:t>
            </a:r>
            <a:r>
              <a:rPr lang="en-US" b="1" dirty="0">
                <a:latin typeface="Times New Roman" panose="02020603050405020304" pitchFamily="18" charset="0"/>
                <a:cs typeface="Times New Roman" panose="02020603050405020304" pitchFamily="18" charset="0"/>
              </a:rPr>
              <a:t>4,487 (49%)</a:t>
            </a:r>
            <a:r>
              <a:rPr lang="en-US"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Non-Conforming: </a:t>
            </a:r>
            <a:r>
              <a:rPr lang="en-US" b="1" dirty="0">
                <a:latin typeface="Times New Roman" panose="02020603050405020304" pitchFamily="18" charset="0"/>
                <a:cs typeface="Times New Roman" panose="02020603050405020304" pitchFamily="18" charset="0"/>
              </a:rPr>
              <a:t>24 (&lt;1%)</a:t>
            </a:r>
            <a:r>
              <a:rPr lang="en-US" dirty="0">
                <a:latin typeface="Times New Roman" panose="02020603050405020304" pitchFamily="18" charset="0"/>
                <a:cs typeface="Times New Roman" panose="02020603050405020304" pitchFamily="18" charset="0"/>
              </a:rPr>
              <a:t> </a:t>
            </a:r>
          </a:p>
          <a:p>
            <a:pPr algn="just"/>
            <a:r>
              <a:rPr lang="en-US" b="1" u="sng" dirty="0">
                <a:latin typeface="Times New Roman" panose="02020603050405020304" pitchFamily="18" charset="0"/>
                <a:cs typeface="Times New Roman" panose="02020603050405020304" pitchFamily="18" charset="0"/>
              </a:rPr>
              <a:t>Business Insight</a:t>
            </a:r>
          </a:p>
          <a:p>
            <a:pPr algn="just"/>
            <a:r>
              <a:rPr lang="en-US" dirty="0">
                <a:latin typeface="Times New Roman" panose="02020603050405020304" pitchFamily="18" charset="0"/>
                <a:cs typeface="Times New Roman" panose="02020603050405020304" pitchFamily="18" charset="0"/>
              </a:rPr>
              <a:t>Patient visits are almost equally distributed across genders, enabling balanced healthcare planning.</a:t>
            </a:r>
          </a:p>
          <a:p>
            <a:pPr algn="just"/>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6. Referral Analysis</a:t>
            </a:r>
          </a:p>
          <a:p>
            <a:pPr marL="342900" indent="-34290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5,400 patients (59%)</a:t>
            </a:r>
            <a:r>
              <a:rPr lang="en-US" dirty="0">
                <a:latin typeface="Times New Roman" panose="02020603050405020304" pitchFamily="18" charset="0"/>
                <a:cs typeface="Times New Roman" panose="02020603050405020304" pitchFamily="18" charset="0"/>
              </a:rPr>
              <a:t> required no referral.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referred patients were directed to: </a:t>
            </a:r>
          </a:p>
          <a:p>
            <a:pPr marL="800100" lvl="1"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General Practice </a:t>
            </a:r>
          </a:p>
          <a:p>
            <a:pPr marL="800100" lvl="1"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Orthopedics </a:t>
            </a:r>
          </a:p>
          <a:p>
            <a:pPr marL="800100" lvl="1"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Physiotherapy </a:t>
            </a:r>
          </a:p>
          <a:p>
            <a:pPr algn="just"/>
            <a:r>
              <a:rPr lang="en-US" b="1" u="sng" dirty="0">
                <a:latin typeface="Times New Roman" panose="02020603050405020304" pitchFamily="18" charset="0"/>
                <a:cs typeface="Times New Roman" panose="02020603050405020304" pitchFamily="18" charset="0"/>
              </a:rPr>
              <a:t>Business Insight</a:t>
            </a:r>
          </a:p>
          <a:p>
            <a:pPr algn="just"/>
            <a:r>
              <a:rPr lang="en-US" dirty="0">
                <a:latin typeface="Times New Roman" panose="02020603050405020304" pitchFamily="18" charset="0"/>
                <a:cs typeface="Times New Roman" panose="02020603050405020304" pitchFamily="18" charset="0"/>
              </a:rPr>
              <a:t>General Practice receives the highest referral load and should be adequately staffed.</a:t>
            </a:r>
          </a:p>
          <a:p>
            <a:pPr algn="l"/>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4728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D61D6-0937-369A-1F5F-D01B8AA97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EDAE6-DE52-138C-F548-E1C8D29DBA3C}"/>
              </a:ext>
            </a:extLst>
          </p:cNvPr>
          <p:cNvSpPr>
            <a:spLocks noGrp="1"/>
          </p:cNvSpPr>
          <p:nvPr>
            <p:ph type="ctrTitle"/>
          </p:nvPr>
        </p:nvSpPr>
        <p:spPr>
          <a:xfrm>
            <a:off x="1275443" y="645590"/>
            <a:ext cx="9440034" cy="45719"/>
          </a:xfrm>
        </p:spPr>
        <p:txBody>
          <a:bodyPr>
            <a:normAutofit fontScale="90000"/>
          </a:bodyPr>
          <a:lstStyle/>
          <a:p>
            <a:r>
              <a:rPr lang="en-US" dirty="0"/>
              <a:t>.</a:t>
            </a:r>
          </a:p>
        </p:txBody>
      </p:sp>
      <p:sp>
        <p:nvSpPr>
          <p:cNvPr id="3" name="Subtitle 2">
            <a:extLst>
              <a:ext uri="{FF2B5EF4-FFF2-40B4-BE49-F238E27FC236}">
                <a16:creationId xmlns:a16="http://schemas.microsoft.com/office/drawing/2014/main" id="{ED94CDC9-D16D-7647-9144-B8E3382B9CCE}"/>
              </a:ext>
            </a:extLst>
          </p:cNvPr>
          <p:cNvSpPr>
            <a:spLocks noGrp="1"/>
          </p:cNvSpPr>
          <p:nvPr>
            <p:ph type="subTitle" idx="1"/>
          </p:nvPr>
        </p:nvSpPr>
        <p:spPr>
          <a:xfrm>
            <a:off x="1103993" y="493395"/>
            <a:ext cx="10335532" cy="6168389"/>
          </a:xfrm>
        </p:spPr>
        <p:txBody>
          <a:bodyPr>
            <a:normAutofit/>
          </a:bodyPr>
          <a:lstStyle/>
          <a:p>
            <a:pPr algn="just"/>
            <a:r>
              <a:rPr lang="en-US" sz="2000" b="1" dirty="0">
                <a:latin typeface="Times New Roman" panose="02020603050405020304" pitchFamily="18" charset="0"/>
                <a:cs typeface="Times New Roman" panose="02020603050405020304" pitchFamily="18" charset="0"/>
              </a:rPr>
              <a:t>Strategic Recommendation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 patient wait times.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Increase staffing during peak months.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 patient communication and service quality.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Monitor high-referral departments.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Establish KPI tracking for satisfaction and operational efficiency. </a:t>
            </a: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cs typeface="Times New Roman" panose="02020603050405020304" pitchFamily="18" charset="0"/>
              </a:rPr>
              <a:t>The Emergency Room handled 9,216 patient visits with a balanced admission rate of 50%, an average wait time of 35 minutes, and an average satisfaction score of 5/10. Referral analysis identified General Practice and Orthopedics as the most utilized departments. The analysis highlights opportunities to improve patient satisfaction through reduced waiting times and optimized departmental resource allocation."</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9143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31533-FD6F-6C38-B121-09D28D6FE3EA}"/>
              </a:ext>
            </a:extLst>
          </p:cNvPr>
          <p:cNvSpPr>
            <a:spLocks noGrp="1"/>
          </p:cNvSpPr>
          <p:nvPr>
            <p:ph type="title"/>
          </p:nvPr>
        </p:nvSpPr>
        <p:spPr>
          <a:xfrm>
            <a:off x="913795" y="219076"/>
            <a:ext cx="10353762" cy="847726"/>
          </a:xfrm>
        </p:spPr>
        <p:txBody>
          <a:bodyPr>
            <a:normAutofit fontScale="90000"/>
          </a:bodyPr>
          <a:lstStyle/>
          <a:p>
            <a:r>
              <a:rPr lang="en-US" dirty="0">
                <a:latin typeface="Times New Roman" panose="02020603050405020304" pitchFamily="18" charset="0"/>
                <a:cs typeface="Times New Roman" panose="02020603050405020304" pitchFamily="18" charset="0"/>
              </a:rPr>
              <a:t>Recommendation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528FD-63DE-5963-17F2-8D8113626912}"/>
              </a:ext>
            </a:extLst>
          </p:cNvPr>
          <p:cNvSpPr>
            <a:spLocks noGrp="1"/>
          </p:cNvSpPr>
          <p:nvPr>
            <p:ph idx="1"/>
          </p:nvPr>
        </p:nvSpPr>
        <p:spPr>
          <a:xfrm>
            <a:off x="304800" y="714376"/>
            <a:ext cx="11677650" cy="5991224"/>
          </a:xfrm>
        </p:spPr>
        <p:txBody>
          <a:bodyPr>
            <a:normAutofit/>
          </a:bodyPr>
          <a:lstStyle/>
          <a:p>
            <a:pPr marL="36900" indent="0" algn="just">
              <a:buNone/>
            </a:pPr>
            <a:r>
              <a:rPr lang="en-US" sz="1200" b="1" dirty="0">
                <a:latin typeface="Times New Roman" panose="02020603050405020304" pitchFamily="18" charset="0"/>
                <a:cs typeface="Times New Roman" panose="02020603050405020304" pitchFamily="18" charset="0"/>
              </a:rPr>
              <a:t>1. </a:t>
            </a:r>
            <a:r>
              <a:rPr lang="en-US" sz="1800" b="1" dirty="0">
                <a:latin typeface="Times New Roman" panose="02020603050405020304" pitchFamily="18" charset="0"/>
                <a:cs typeface="Times New Roman" panose="02020603050405020304" pitchFamily="18" charset="0"/>
              </a:rPr>
              <a:t>Reduce Patient Waiting Time</a:t>
            </a:r>
            <a:endParaRPr lang="en-US" sz="18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Increase staffing during peak hours. </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Implement appointment prioritization based on severity. </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Introduce real-time queue monitoring. </a:t>
            </a:r>
          </a:p>
          <a:p>
            <a:pPr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Optimize patient registration and triage process. </a:t>
            </a:r>
          </a:p>
          <a:p>
            <a:pPr marL="36900" indent="0" algn="just">
              <a:buNone/>
            </a:pP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2. </a:t>
            </a:r>
            <a:r>
              <a:rPr lang="en-US" sz="1600" b="1" dirty="0">
                <a:latin typeface="Times New Roman" panose="02020603050405020304" pitchFamily="18" charset="0"/>
                <a:cs typeface="Times New Roman" panose="02020603050405020304" pitchFamily="18" charset="0"/>
              </a:rPr>
              <a:t>Improve Patient Satisfaction Score</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Provide regular status updates to waiting patients. </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 communication between staff and patients. </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Conduct monthly patient feedback surveys. </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Train staff in patient-centered care practices. </a:t>
            </a:r>
          </a:p>
          <a:p>
            <a:pPr marL="36900" indent="0" algn="just">
              <a:buNone/>
            </a:pPr>
            <a:r>
              <a:rPr lang="en-US" sz="1600" b="1" dirty="0">
                <a:latin typeface="Times New Roman" panose="02020603050405020304" pitchFamily="18" charset="0"/>
                <a:cs typeface="Times New Roman" panose="02020603050405020304" pitchFamily="18" charset="0"/>
              </a:rPr>
              <a:t>3. Optimize High-Volume Departments</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Allocate additional physicians and nurses. </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Increase consultation rooms during busy periods.</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Monitor departmental workload monthly.</a:t>
            </a:r>
            <a:endParaRPr lang="en-US" sz="16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3690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7690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36B94-522A-40D8-74DE-C539BF001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48C62-2F2E-91AF-8573-4175309A7271}"/>
              </a:ext>
            </a:extLst>
          </p:cNvPr>
          <p:cNvSpPr>
            <a:spLocks noGrp="1"/>
          </p:cNvSpPr>
          <p:nvPr>
            <p:ph type="title"/>
          </p:nvPr>
        </p:nvSpPr>
        <p:spPr>
          <a:xfrm>
            <a:off x="913795" y="219076"/>
            <a:ext cx="10353762" cy="847726"/>
          </a:xfrm>
        </p:spPr>
        <p:txBody>
          <a:bodyPr>
            <a:normAutofit fontScale="90000"/>
          </a:bodyPr>
          <a:lstStyle/>
          <a:p>
            <a:r>
              <a:rPr lang="en-US" dirty="0"/>
              <a:t>Recommendation</a:t>
            </a:r>
            <a:br>
              <a:rPr lang="en-US" dirty="0"/>
            </a:br>
            <a:endParaRPr lang="en-US" dirty="0"/>
          </a:p>
        </p:txBody>
      </p:sp>
      <p:sp>
        <p:nvSpPr>
          <p:cNvPr id="3" name="Content Placeholder 2">
            <a:extLst>
              <a:ext uri="{FF2B5EF4-FFF2-40B4-BE49-F238E27FC236}">
                <a16:creationId xmlns:a16="http://schemas.microsoft.com/office/drawing/2014/main" id="{7665CDDB-F3AE-8546-021A-303D30CAAE79}"/>
              </a:ext>
            </a:extLst>
          </p:cNvPr>
          <p:cNvSpPr>
            <a:spLocks noGrp="1"/>
          </p:cNvSpPr>
          <p:nvPr>
            <p:ph idx="1"/>
          </p:nvPr>
        </p:nvSpPr>
        <p:spPr>
          <a:xfrm>
            <a:off x="304800" y="714376"/>
            <a:ext cx="11677650" cy="5991224"/>
          </a:xfrm>
        </p:spPr>
        <p:txBody>
          <a:bodyPr>
            <a:normAutofit/>
          </a:bodyPr>
          <a:lstStyle/>
          <a:p>
            <a:pPr marL="36900" indent="0">
              <a:buNone/>
            </a:pPr>
            <a:r>
              <a:rPr lang="en-US" sz="2000" b="1" dirty="0">
                <a:solidFill>
                  <a:schemeClr val="tx1"/>
                </a:solidFill>
                <a:effectLst/>
              </a:rPr>
              <a:t>4.Improve Patient Flow Efficiency</a:t>
            </a:r>
          </a:p>
          <a:p>
            <a:pPr>
              <a:buFont typeface="Arial" panose="020B0604020202020204" pitchFamily="34" charset="0"/>
              <a:buChar char="•"/>
            </a:pPr>
            <a:r>
              <a:rPr lang="en-US" sz="1800" dirty="0"/>
              <a:t>Streamline admission and discharge procedures. </a:t>
            </a:r>
          </a:p>
          <a:p>
            <a:pPr>
              <a:buFont typeface="Arial" panose="020B0604020202020204" pitchFamily="34" charset="0"/>
              <a:buChar char="•"/>
            </a:pPr>
            <a:r>
              <a:rPr lang="en-US" sz="1800" dirty="0"/>
              <a:t>Introduce fast-track treatment for non-critical cases. </a:t>
            </a:r>
          </a:p>
          <a:p>
            <a:pPr>
              <a:buFont typeface="Arial" panose="020B0604020202020204" pitchFamily="34" charset="0"/>
              <a:buChar char="•"/>
            </a:pPr>
            <a:r>
              <a:rPr lang="en-US" sz="1800" dirty="0"/>
              <a:t>Improve coordination between ER and inpatient units.</a:t>
            </a:r>
          </a:p>
          <a:p>
            <a:pPr marL="36900" indent="0">
              <a:buNone/>
            </a:pPr>
            <a:r>
              <a:rPr lang="en-US" sz="2000" b="1" dirty="0"/>
              <a:t>5. Strengthen Emergency Room Resource Planning</a:t>
            </a:r>
          </a:p>
          <a:p>
            <a:pPr>
              <a:buFont typeface="Arial" panose="020B0604020202020204" pitchFamily="34" charset="0"/>
              <a:buChar char="•"/>
            </a:pPr>
            <a:r>
              <a:rPr lang="en-US" sz="1800" dirty="0"/>
              <a:t>Forecast patient demand using historical data. </a:t>
            </a:r>
          </a:p>
          <a:p>
            <a:pPr>
              <a:buFont typeface="Arial" panose="020B0604020202020204" pitchFamily="34" charset="0"/>
              <a:buChar char="•"/>
            </a:pPr>
            <a:r>
              <a:rPr lang="en-US" sz="1800" dirty="0"/>
              <a:t>Create seasonal staffing plans. </a:t>
            </a:r>
          </a:p>
          <a:p>
            <a:pPr>
              <a:buFont typeface="Arial" panose="020B0604020202020204" pitchFamily="34" charset="0"/>
              <a:buChar char="•"/>
            </a:pPr>
            <a:r>
              <a:rPr lang="en-US" sz="1800" dirty="0"/>
              <a:t>Maintain adequate bed availability.</a:t>
            </a:r>
          </a:p>
          <a:p>
            <a:pPr marL="36900" indent="0">
              <a:buNone/>
            </a:pPr>
            <a:endParaRPr lang="en-US" sz="1800" dirty="0"/>
          </a:p>
        </p:txBody>
      </p:sp>
    </p:spTree>
    <p:extLst>
      <p:ext uri="{BB962C8B-B14F-4D97-AF65-F5344CB8AC3E}">
        <p14:creationId xmlns:p14="http://schemas.microsoft.com/office/powerpoint/2010/main" val="1249071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D143D-0ADC-015D-BE91-F2C75AD29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35328-E6D6-8574-0982-E523C1B19B37}"/>
              </a:ext>
            </a:extLst>
          </p:cNvPr>
          <p:cNvSpPr>
            <a:spLocks noGrp="1"/>
          </p:cNvSpPr>
          <p:nvPr>
            <p:ph type="title"/>
          </p:nvPr>
        </p:nvSpPr>
        <p:spPr>
          <a:xfrm>
            <a:off x="913795" y="219076"/>
            <a:ext cx="10353762" cy="847726"/>
          </a:xfrm>
        </p:spPr>
        <p:txBody>
          <a:bodyPr>
            <a:normAutofit fontScale="90000"/>
          </a:bodyPr>
          <a:lstStyle/>
          <a:p>
            <a:r>
              <a:rPr lang="en-US" dirty="0"/>
              <a:t>Conclusion</a:t>
            </a:r>
            <a:br>
              <a:rPr lang="en-US" dirty="0"/>
            </a:br>
            <a:endParaRPr lang="en-US" dirty="0"/>
          </a:p>
        </p:txBody>
      </p:sp>
      <p:sp>
        <p:nvSpPr>
          <p:cNvPr id="3" name="Content Placeholder 2">
            <a:extLst>
              <a:ext uri="{FF2B5EF4-FFF2-40B4-BE49-F238E27FC236}">
                <a16:creationId xmlns:a16="http://schemas.microsoft.com/office/drawing/2014/main" id="{5B8CBDA6-EC77-8D36-9AB6-B29DF2497269}"/>
              </a:ext>
            </a:extLst>
          </p:cNvPr>
          <p:cNvSpPr>
            <a:spLocks noGrp="1"/>
          </p:cNvSpPr>
          <p:nvPr>
            <p:ph idx="1"/>
          </p:nvPr>
        </p:nvSpPr>
        <p:spPr>
          <a:xfrm>
            <a:off x="304800" y="714376"/>
            <a:ext cx="11677650" cy="5991224"/>
          </a:xfrm>
        </p:spPr>
        <p:txBody>
          <a:bodyPr>
            <a:normAutofit/>
          </a:bodyPr>
          <a:lstStyle/>
          <a:p>
            <a:pPr marL="36900" indent="0" algn="just">
              <a:buNone/>
            </a:pPr>
            <a:r>
              <a:rPr lang="en-US" sz="2000" dirty="0">
                <a:latin typeface="Times New Roman" panose="02020603050405020304" pitchFamily="18" charset="0"/>
                <a:cs typeface="Times New Roman" panose="02020603050405020304" pitchFamily="18" charset="0"/>
              </a:rPr>
              <a:t>The Healthcare Performance &amp; Patient Metrics Analytics Dashboard analyzed 9216 Emergency Room </a:t>
            </a:r>
            <a:r>
              <a:rPr lang="en-US" sz="2000" b="1" dirty="0">
                <a:latin typeface="Times New Roman" panose="02020603050405020304" pitchFamily="18" charset="0"/>
                <a:cs typeface="Times New Roman" panose="02020603050405020304" pitchFamily="18" charset="0"/>
              </a:rPr>
              <a:t>patient visits</a:t>
            </a:r>
            <a:r>
              <a:rPr lang="en-US" sz="2000" dirty="0">
                <a:latin typeface="Times New Roman" panose="02020603050405020304" pitchFamily="18" charset="0"/>
                <a:cs typeface="Times New Roman" panose="02020603050405020304" pitchFamily="18" charset="0"/>
              </a:rPr>
              <a:t> to evaluate hospital operational efficiency, patient experience, and resource utilization. The analysis revealed a nearly equal distribution between admitted and non-admitted patients, indicating balanced case severity within the Emergency Department. An average patient wait time of approximately 35 minutes and an average satisfaction score of 4.99/10 highlighted opportunities to improve service quality and patient experience. Referral analysis showed that General Practice and Orthopedics handled the highest referral volumes, emphasizing the need for optimized resource allocation in these departments. Patient demographic analysis demonstrated a diverse patient population with a balanced gender distribution, while operational trends indicated consistent patient demand throughout the study period. Overall, the dashboard provides actionable insights that can help hospital management reduce waiting times, improve patient satisfaction, optimize staffing and departmental workloads, strengthen referral management, and support data-driven decision-making. By leveraging these insights, the hospital can enhance operational performance, improve quality of care, and deliver a better healthcare experience for patients.</a:t>
            </a:r>
          </a:p>
          <a:p>
            <a:pPr marL="36900" indent="0">
              <a:buNone/>
            </a:pPr>
            <a:endParaRPr lang="en-US" sz="1800" dirty="0"/>
          </a:p>
        </p:txBody>
      </p:sp>
    </p:spTree>
    <p:extLst>
      <p:ext uri="{BB962C8B-B14F-4D97-AF65-F5344CB8AC3E}">
        <p14:creationId xmlns:p14="http://schemas.microsoft.com/office/powerpoint/2010/main" val="12819814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4C00F4-06E9-43E3-AD97-88A857CEFA82}">
  <ds:schemaRefs>
    <ds:schemaRef ds:uri="16c05727-aa75-4e4a-9b5f-8a80a1165891"/>
    <ds:schemaRef ds:uri="http://purl.org/dc/dcmitype/"/>
    <ds:schemaRef ds:uri="http://purl.org/dc/elements/1.1/"/>
    <ds:schemaRef ds:uri="71af3243-3dd4-4a8d-8c0d-dd76da1f02a5"/>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{BF2783CD-6ABA-40A3-BEF3-676D8C3B4016}TFe742eee6-54b3-45e8-a03d-f3d997f9b6caf6c338c2_win32-3734725ae7e2</Template>
  <TotalTime>110</TotalTime>
  <Words>904</Words>
  <Application>Microsoft Office PowerPoint</Application>
  <PresentationFormat>Widescreen</PresentationFormat>
  <Paragraphs>128</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Goudy Old Style</vt:lpstr>
      <vt:lpstr>Symusic</vt:lpstr>
      <vt:lpstr>Times New Roman</vt:lpstr>
      <vt:lpstr>Wingdings</vt:lpstr>
      <vt:lpstr>Wingdings 2</vt:lpstr>
      <vt:lpstr>SlateVTI</vt:lpstr>
      <vt:lpstr>Hospital Emergency room metric and operational analysis</vt:lpstr>
      <vt:lpstr>Objective </vt:lpstr>
      <vt:lpstr>Dataset Overview</vt:lpstr>
      <vt:lpstr>KPI Overview </vt:lpstr>
      <vt:lpstr>Data preparation </vt:lpstr>
      <vt:lpstr>Analysis</vt:lpstr>
      <vt:lpstr>.</vt:lpstr>
      <vt:lpstr>.</vt:lpstr>
      <vt:lpstr>.</vt:lpstr>
      <vt:lpstr>Recommendation </vt:lpstr>
      <vt:lpstr>Recommendation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chandane</dc:creator>
  <cp:lastModifiedBy>sahil chandane</cp:lastModifiedBy>
  <cp:revision>2</cp:revision>
  <dcterms:created xsi:type="dcterms:W3CDTF">2026-06-17T06:00:40Z</dcterms:created>
  <dcterms:modified xsi:type="dcterms:W3CDTF">2026-06-22T07:26:09Z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